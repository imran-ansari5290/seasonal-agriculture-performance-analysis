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1"/>
  </p:notesMasterIdLst>
  <p:handoutMasterIdLst>
    <p:handoutMasterId r:id="rId22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7" r:id="rId11"/>
    <p:sldId id="350" r:id="rId12"/>
    <p:sldId id="351" r:id="rId13"/>
    <p:sldId id="352" r:id="rId14"/>
    <p:sldId id="354" r:id="rId15"/>
    <p:sldId id="357" r:id="rId16"/>
    <p:sldId id="341" r:id="rId17"/>
    <p:sldId id="358" r:id="rId18"/>
    <p:sldId id="343" r:id="rId19"/>
    <p:sldId id="30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ran-Ansari5290/Seasonal-Agriculture-Performance-Analysis.git" TargetMode="External"/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1358" y="3600785"/>
            <a:ext cx="9365033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0" dirty="0">
                <a:solidFill>
                  <a:schemeClr val="tx1"/>
                </a:solidFill>
                <a:cs typeface="Arial" panose="020B0604020202020204" pitchFamily="34" charset="0"/>
              </a:rPr>
              <a:t>Student Name- Imran Ansari</a:t>
            </a:r>
            <a:endParaRPr lang="en-IN" b="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b="0" dirty="0">
                <a:solidFill>
                  <a:schemeClr val="tx1"/>
                </a:solidFill>
                <a:cs typeface="Arial" panose="020B0604020202020204" pitchFamily="34" charset="0"/>
              </a:rPr>
              <a:t>College Name- </a:t>
            </a:r>
            <a:r>
              <a:rPr lang="en-IN" b="0" dirty="0">
                <a:solidFill>
                  <a:schemeClr val="tx1"/>
                </a:solidFill>
                <a:cs typeface="Arial" panose="020B0604020202020204" pitchFamily="34" charset="0"/>
              </a:rPr>
              <a:t>Dr. Ambedkar Institute of Technology for </a:t>
            </a:r>
            <a:r>
              <a:rPr lang="en-IN" b="0" dirty="0" err="1">
                <a:solidFill>
                  <a:schemeClr val="tx1"/>
                </a:solidFill>
                <a:cs typeface="Arial" panose="020B0604020202020204" pitchFamily="34" charset="0"/>
              </a:rPr>
              <a:t>Divyangjan</a:t>
            </a:r>
            <a:r>
              <a:rPr lang="en-IN" b="0" dirty="0">
                <a:solidFill>
                  <a:schemeClr val="tx1"/>
                </a:solidFill>
                <a:cs typeface="Arial" panose="020B0604020202020204" pitchFamily="34" charset="0"/>
              </a:rPr>
              <a:t>, Kanpur, U.P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59" y="2607993"/>
            <a:ext cx="10883142" cy="743448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202A30"/>
                </a:solidFill>
                <a:latin typeface="+mj-lt"/>
              </a:rPr>
              <a:t>SEASONAL AGRICULTURE</a:t>
            </a:r>
            <a:r>
              <a:rPr lang="en-US" sz="4000" dirty="0">
                <a:latin typeface="+mj-lt"/>
              </a:rPr>
              <a:t> </a:t>
            </a:r>
            <a:r>
              <a:rPr lang="en-US" sz="4000" b="1" dirty="0">
                <a:solidFill>
                  <a:srgbClr val="202A30"/>
                </a:solidFill>
                <a:latin typeface="+mj-lt"/>
              </a:rPr>
              <a:t>PERFORMANCE ANALYSIS</a:t>
            </a:r>
            <a:br>
              <a:rPr lang="en-US" sz="3200" dirty="0">
                <a:solidFill>
                  <a:srgbClr val="000000"/>
                </a:solidFill>
                <a:latin typeface="Arial"/>
              </a:rPr>
            </a:b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721359" y="4711626"/>
            <a:ext cx="7514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+mj-lt"/>
              </a:rPr>
              <a:t>AICTE</a:t>
            </a:r>
            <a:r>
              <a:rPr lang="en-US" sz="2000" b="1" dirty="0"/>
              <a:t> STU ID : (</a:t>
            </a:r>
            <a:r>
              <a:rPr lang="en-IN" sz="2000" b="1" dirty="0">
                <a:latin typeface="+mj-lt"/>
                <a:cs typeface="Arial" panose="020B0604020202020204" pitchFamily="34" charset="0"/>
              </a:rPr>
              <a:t>STU6a3e0db78c6641782451639</a:t>
            </a:r>
            <a:r>
              <a:rPr lang="en-US" sz="2000" b="1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7F1830-77D8-A530-BE1D-D92C2ACC6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5957" y="371248"/>
            <a:ext cx="3980019" cy="5969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PROBLEM  STATEMENT</a:t>
            </a:r>
            <a:endParaRPr lang="en-IN" sz="28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970" y="3033471"/>
            <a:ext cx="2760758" cy="32644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B881D0-E943-0D49-8757-F97BF2D2DCBE}"/>
              </a:ext>
            </a:extLst>
          </p:cNvPr>
          <p:cNvSpPr txBox="1"/>
          <p:nvPr/>
        </p:nvSpPr>
        <p:spPr>
          <a:xfrm>
            <a:off x="675956" y="1156996"/>
            <a:ext cx="8626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farm performance varies with the seasons is not well explained by raw agricultural data.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4A9D54-F538-980E-3B3E-A3C11B4E72A3}"/>
              </a:ext>
            </a:extLst>
          </p:cNvPr>
          <p:cNvSpPr txBox="1"/>
          <p:nvPr/>
        </p:nvSpPr>
        <p:spPr>
          <a:xfrm>
            <a:off x="675957" y="1992175"/>
            <a:ext cx="86260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dirty="0"/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dirty="0"/>
              <a:t>However, raw agricultural data does not clearly explain how agricultural performance changes across seasons or what patterns can be observed in different seasonal conditions.</a:t>
            </a: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dirty="0"/>
              <a:t>The problem is to analyses the given agricultural dataset and investigate seasonal differences in agricultural performance by identifying meaningful patterns, trends, relationships and variations within the available data.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BC3196-10DA-0042-7835-9B2E9ABB0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5957" y="371062"/>
            <a:ext cx="5599431" cy="622852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202A30"/>
                </a:solidFill>
              </a:rPr>
              <a:t>PROJECT DESCRIPTION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456CC1-B851-5121-CAB6-F1EE248D4B5F}"/>
              </a:ext>
            </a:extLst>
          </p:cNvPr>
          <p:cNvSpPr txBox="1"/>
          <p:nvPr/>
        </p:nvSpPr>
        <p:spPr>
          <a:xfrm>
            <a:off x="675957" y="1212764"/>
            <a:ext cx="8693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This project analyzes 4,000 farm records across 3 seasons, 8 crops, 8 states and 4 irrigation methods to uncover seasonal patterns, relationships and differences in agricultural performance.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2A6E03-62FC-F0E7-3EF7-7BFDBF1B2E10}"/>
              </a:ext>
            </a:extLst>
          </p:cNvPr>
          <p:cNvSpPr/>
          <p:nvPr/>
        </p:nvSpPr>
        <p:spPr>
          <a:xfrm>
            <a:off x="6076434" y="2191580"/>
            <a:ext cx="3187959" cy="4012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2B87B8"/>
                </a:solidFill>
              </a:rPr>
              <a:t>ANALYTICAL WORKFLOW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A6B479-BAB7-96A4-4A22-477E64A0CDDD}"/>
              </a:ext>
            </a:extLst>
          </p:cNvPr>
          <p:cNvSpPr/>
          <p:nvPr/>
        </p:nvSpPr>
        <p:spPr>
          <a:xfrm>
            <a:off x="6076434" y="2813548"/>
            <a:ext cx="3505652" cy="4012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202A30"/>
                </a:solidFill>
              </a:rPr>
              <a:t>1. Load and inspect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B66300-5456-B65A-2BE4-2EEA0B2871EB}"/>
              </a:ext>
            </a:extLst>
          </p:cNvPr>
          <p:cNvSpPr/>
          <p:nvPr/>
        </p:nvSpPr>
        <p:spPr>
          <a:xfrm>
            <a:off x="6066652" y="3435114"/>
            <a:ext cx="3515433" cy="4012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202A30"/>
                </a:solidFill>
              </a:rPr>
              <a:t>2. Clean and validate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46C05E-2B65-ECEB-5E5A-43335FA0F558}"/>
              </a:ext>
            </a:extLst>
          </p:cNvPr>
          <p:cNvSpPr/>
          <p:nvPr/>
        </p:nvSpPr>
        <p:spPr>
          <a:xfrm>
            <a:off x="6066650" y="4056680"/>
            <a:ext cx="3515435" cy="4012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202A30"/>
                </a:solidFill>
              </a:rPr>
              <a:t>3. EDA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27C53C-5403-5ED9-3FFA-9C6D2F26DC21}"/>
              </a:ext>
            </a:extLst>
          </p:cNvPr>
          <p:cNvSpPr/>
          <p:nvPr/>
        </p:nvSpPr>
        <p:spPr>
          <a:xfrm>
            <a:off x="6056869" y="4682898"/>
            <a:ext cx="3515435" cy="4012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202A30"/>
                </a:solidFill>
              </a:rPr>
              <a:t>4. Correlation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402844-16A8-53AE-631A-6A6ED707BB00}"/>
              </a:ext>
            </a:extLst>
          </p:cNvPr>
          <p:cNvSpPr/>
          <p:nvPr/>
        </p:nvSpPr>
        <p:spPr>
          <a:xfrm>
            <a:off x="6066650" y="5309116"/>
            <a:ext cx="3515436" cy="4012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202A30"/>
                </a:solidFill>
              </a:rPr>
              <a:t>5. Seasonal + custom analyses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A45BD4-C7AE-38B3-5330-14AE6AE3CE72}"/>
              </a:ext>
            </a:extLst>
          </p:cNvPr>
          <p:cNvSpPr/>
          <p:nvPr/>
        </p:nvSpPr>
        <p:spPr>
          <a:xfrm>
            <a:off x="680110" y="2191580"/>
            <a:ext cx="1479414" cy="40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Objectives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BB5EF2-F02C-E848-6F7E-87B82B77A80B}"/>
              </a:ext>
            </a:extLst>
          </p:cNvPr>
          <p:cNvSpPr/>
          <p:nvPr/>
        </p:nvSpPr>
        <p:spPr>
          <a:xfrm>
            <a:off x="6056869" y="5926030"/>
            <a:ext cx="3535001" cy="3753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202A30"/>
                </a:solidFill>
              </a:rPr>
              <a:t>6. Insights &amp; recommendations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4BABB0-EF14-0264-EEB7-83A2230868C6}"/>
              </a:ext>
            </a:extLst>
          </p:cNvPr>
          <p:cNvSpPr txBox="1"/>
          <p:nvPr/>
        </p:nvSpPr>
        <p:spPr>
          <a:xfrm>
            <a:off x="675957" y="2694768"/>
            <a:ext cx="5099692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/>
              <a:t>Clean and prepare the raw dataset.</a:t>
            </a: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/>
              <a:t>Compare performance across seasons, crops, states and irrigation methods.</a:t>
            </a: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/>
              <a:t>Study environmental/resource relationships with yield and profit.</a:t>
            </a: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/>
              <a:t>Convert findings into evidence-based recommendations.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D0A544-E769-61FF-3563-6632A527B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1359" y="396291"/>
            <a:ext cx="4895850" cy="62547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WHO ARE THE END USERS?</a:t>
            </a:r>
            <a:endParaRPr lang="en-IN" sz="2800" b="1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8462B932-A615-5FB7-9B98-6596B202D008}"/>
              </a:ext>
            </a:extLst>
          </p:cNvPr>
          <p:cNvSpPr/>
          <p:nvPr/>
        </p:nvSpPr>
        <p:spPr>
          <a:xfrm>
            <a:off x="777240" y="1874520"/>
            <a:ext cx="3840120" cy="1941699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cap="rnd">
            <a:solidFill>
              <a:srgbClr val="2E7D32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>
              <a:spcAft>
                <a:spcPts val="1800"/>
              </a:spcAft>
            </a:pPr>
            <a:r>
              <a:rPr lang="en-US" b="1" dirty="0"/>
              <a:t>Farmers and farm managers</a:t>
            </a:r>
            <a:endParaRPr lang="en-US" dirty="0"/>
          </a:p>
          <a:p>
            <a:pPr algn="just">
              <a:spcAft>
                <a:spcPts val="1800"/>
              </a:spcAft>
            </a:pPr>
            <a:r>
              <a:rPr lang="en-US" dirty="0">
                <a:solidFill>
                  <a:srgbClr val="202A30"/>
                </a:solidFill>
              </a:rPr>
              <a:t>Use seasonal, crop and irrigation findings to support planning.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ounded Rectangle 21">
            <a:extLst>
              <a:ext uri="{FF2B5EF4-FFF2-40B4-BE49-F238E27FC236}">
                <a16:creationId xmlns:a16="http://schemas.microsoft.com/office/drawing/2014/main" id="{2B0B86B4-D152-995D-FD49-60C17B6BAA57}"/>
              </a:ext>
            </a:extLst>
          </p:cNvPr>
          <p:cNvSpPr/>
          <p:nvPr/>
        </p:nvSpPr>
        <p:spPr>
          <a:xfrm>
            <a:off x="5074920" y="1874520"/>
            <a:ext cx="3840120" cy="1941700"/>
          </a:xfrm>
          <a:prstGeom prst="roundRect">
            <a:avLst>
              <a:gd name="adj" fmla="val 16667"/>
            </a:avLst>
          </a:prstGeom>
          <a:solidFill>
            <a:srgbClr val="E2F2F9"/>
          </a:solidFill>
          <a:ln cap="rnd">
            <a:solidFill>
              <a:srgbClr val="2B87B8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>
              <a:spcAft>
                <a:spcPts val="1800"/>
              </a:spcAft>
            </a:pPr>
            <a:r>
              <a:rPr lang="en-US" b="1" dirty="0"/>
              <a:t>Agricultural advisors</a:t>
            </a:r>
            <a:endParaRPr lang="en-US" dirty="0"/>
          </a:p>
          <a:p>
            <a:pPr algn="just">
              <a:spcAft>
                <a:spcPts val="1800"/>
              </a:spcAft>
            </a:pPr>
            <a:r>
              <a:rPr lang="en-US" dirty="0">
                <a:solidFill>
                  <a:srgbClr val="202A30"/>
                </a:solidFill>
              </a:rPr>
              <a:t>Guide crop selection, irrigation choices and resource efficiency.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ounded Rectangle 24">
            <a:extLst>
              <a:ext uri="{FF2B5EF4-FFF2-40B4-BE49-F238E27FC236}">
                <a16:creationId xmlns:a16="http://schemas.microsoft.com/office/drawing/2014/main" id="{81CAB577-03F3-BC7A-940F-3368F9DE4AAB}"/>
              </a:ext>
            </a:extLst>
          </p:cNvPr>
          <p:cNvSpPr/>
          <p:nvPr/>
        </p:nvSpPr>
        <p:spPr>
          <a:xfrm>
            <a:off x="777240" y="4019627"/>
            <a:ext cx="3840120" cy="2157178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cap="rnd">
            <a:solidFill>
              <a:srgbClr val="F9A825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spcAft>
                <a:spcPts val="1800"/>
              </a:spcAft>
            </a:pPr>
            <a:r>
              <a:rPr lang="en-US" b="1" dirty="0"/>
              <a:t>Policy makers and support agencies</a:t>
            </a:r>
            <a:endParaRPr lang="en-US" dirty="0"/>
          </a:p>
          <a:p>
            <a:pPr algn="just">
              <a:spcAft>
                <a:spcPts val="1800"/>
              </a:spcAft>
            </a:pPr>
            <a:r>
              <a:rPr lang="en-US" dirty="0">
                <a:solidFill>
                  <a:srgbClr val="202A30"/>
                </a:solidFill>
              </a:rPr>
              <a:t>Target insurance, subsidies, price stabilization and seasonal support.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Rounded Rectangle 27">
            <a:extLst>
              <a:ext uri="{FF2B5EF4-FFF2-40B4-BE49-F238E27FC236}">
                <a16:creationId xmlns:a16="http://schemas.microsoft.com/office/drawing/2014/main" id="{4581BC28-0A1C-1606-626B-A37BAE3AD4F6}"/>
              </a:ext>
            </a:extLst>
          </p:cNvPr>
          <p:cNvSpPr/>
          <p:nvPr/>
        </p:nvSpPr>
        <p:spPr>
          <a:xfrm>
            <a:off x="5074920" y="4019626"/>
            <a:ext cx="3840120" cy="2157178"/>
          </a:xfrm>
          <a:prstGeom prst="roundRect">
            <a:avLst>
              <a:gd name="adj" fmla="val 16667"/>
            </a:avLst>
          </a:prstGeom>
          <a:solidFill>
            <a:srgbClr val="FFEBEE"/>
          </a:solidFill>
          <a:ln cap="rnd">
            <a:solidFill>
              <a:srgbClr val="C62828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spcAft>
                <a:spcPts val="1800"/>
              </a:spcAft>
            </a:pPr>
            <a:r>
              <a:rPr lang="en-US" b="1" dirty="0"/>
              <a:t>Agricultural analysts / Researchers</a:t>
            </a:r>
            <a:endParaRPr lang="en-US" dirty="0"/>
          </a:p>
          <a:p>
            <a:pPr algn="just">
              <a:spcAft>
                <a:spcPts val="1800"/>
              </a:spcAft>
            </a:pPr>
            <a:r>
              <a:rPr lang="en-US" dirty="0">
                <a:solidFill>
                  <a:srgbClr val="202A30"/>
                </a:solidFill>
              </a:rPr>
              <a:t>Explore patterns, correlations and regional profitability for further study.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3502BD-AFC8-D817-A78D-3573A1276434}"/>
              </a:ext>
            </a:extLst>
          </p:cNvPr>
          <p:cNvSpPr txBox="1"/>
          <p:nvPr/>
        </p:nvSpPr>
        <p:spPr>
          <a:xfrm>
            <a:off x="721359" y="1151146"/>
            <a:ext cx="8896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Potential end users, derived from the project’s analysis and recommendations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2474" y="400886"/>
            <a:ext cx="4644540" cy="586824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202A30"/>
                </a:solidFill>
              </a:rPr>
              <a:t>TECHNOLOGY USED</a:t>
            </a:r>
            <a:br>
              <a:rPr lang="en-US" sz="2800" dirty="0">
                <a:solidFill>
                  <a:srgbClr val="000000"/>
                </a:solidFill>
                <a:latin typeface="Arial"/>
              </a:rPr>
            </a:br>
            <a:endParaRPr lang="en-US" sz="2800" dirty="0"/>
          </a:p>
        </p:txBody>
      </p:sp>
      <p:sp>
        <p:nvSpPr>
          <p:cNvPr id="4" name="Rounded Rectangle 18">
            <a:extLst>
              <a:ext uri="{FF2B5EF4-FFF2-40B4-BE49-F238E27FC236}">
                <a16:creationId xmlns:a16="http://schemas.microsoft.com/office/drawing/2014/main" id="{39A16F02-7C2E-6A36-0F1A-0DE40DA80FDE}"/>
              </a:ext>
            </a:extLst>
          </p:cNvPr>
          <p:cNvSpPr/>
          <p:nvPr/>
        </p:nvSpPr>
        <p:spPr>
          <a:xfrm>
            <a:off x="662474" y="1820496"/>
            <a:ext cx="3885840" cy="1326347"/>
          </a:xfrm>
          <a:prstGeom prst="roundRect">
            <a:avLst>
              <a:gd name="adj" fmla="val 16667"/>
            </a:avLst>
          </a:prstGeom>
          <a:solidFill>
            <a:srgbClr val="E2F2F9"/>
          </a:solidFill>
          <a:ln cap="rnd">
            <a:solidFill>
              <a:srgbClr val="2B87B8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sz="1800" b="1" u="none" strike="noStrike" dirty="0">
                <a:effectLst/>
                <a:uFillTx/>
              </a:rPr>
              <a:t>Python</a:t>
            </a: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Core analysis language</a:t>
            </a:r>
            <a:endParaRPr lang="en-US" sz="1800" b="0" u="none" strike="noStrike" dirty="0">
              <a:solidFill>
                <a:schemeClr val="tx1">
                  <a:lumMod val="65000"/>
                  <a:lumOff val="35000"/>
                </a:schemeClr>
              </a:solidFill>
              <a:effectLst/>
              <a:uFillTx/>
            </a:endParaRPr>
          </a:p>
        </p:txBody>
      </p:sp>
      <p:sp>
        <p:nvSpPr>
          <p:cNvPr id="8" name="Rounded Rectangle 21">
            <a:extLst>
              <a:ext uri="{FF2B5EF4-FFF2-40B4-BE49-F238E27FC236}">
                <a16:creationId xmlns:a16="http://schemas.microsoft.com/office/drawing/2014/main" id="{492CFA85-B102-CA6A-C20C-1EC156ACFB5A}"/>
              </a:ext>
            </a:extLst>
          </p:cNvPr>
          <p:cNvSpPr/>
          <p:nvPr/>
        </p:nvSpPr>
        <p:spPr>
          <a:xfrm>
            <a:off x="5166360" y="1820496"/>
            <a:ext cx="3885840" cy="1326345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cap="rnd">
            <a:solidFill>
              <a:srgbClr val="2E7D32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sz="1800" b="1" u="none" strike="noStrike" dirty="0">
                <a:effectLst/>
                <a:uFillTx/>
              </a:rPr>
              <a:t>Pandas</a:t>
            </a: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loading, cleaning, grouping, and summaries</a:t>
            </a:r>
            <a:endParaRPr lang="en-US" sz="1800" b="0" u="none" strike="noStrike" dirty="0">
              <a:solidFill>
                <a:schemeClr val="tx1">
                  <a:lumMod val="65000"/>
                  <a:lumOff val="35000"/>
                </a:schemeClr>
              </a:solidFill>
              <a:effectLst/>
              <a:uFillTx/>
            </a:endParaRPr>
          </a:p>
        </p:txBody>
      </p:sp>
      <p:sp>
        <p:nvSpPr>
          <p:cNvPr id="11" name="Rounded Rectangle 24">
            <a:extLst>
              <a:ext uri="{FF2B5EF4-FFF2-40B4-BE49-F238E27FC236}">
                <a16:creationId xmlns:a16="http://schemas.microsoft.com/office/drawing/2014/main" id="{B7284471-FBA8-DA88-A19F-7D60C7B0EA70}"/>
              </a:ext>
            </a:extLst>
          </p:cNvPr>
          <p:cNvSpPr/>
          <p:nvPr/>
        </p:nvSpPr>
        <p:spPr>
          <a:xfrm>
            <a:off x="662474" y="3452305"/>
            <a:ext cx="3885840" cy="1326347"/>
          </a:xfrm>
          <a:prstGeom prst="roundRect">
            <a:avLst>
              <a:gd name="adj" fmla="val 16667"/>
            </a:avLst>
          </a:prstGeom>
          <a:solidFill>
            <a:srgbClr val="E2F2F9"/>
          </a:solidFill>
          <a:ln cap="rnd">
            <a:solidFill>
              <a:srgbClr val="2B87B8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sz="1800" b="1" u="none" strike="noStrike" dirty="0">
                <a:effectLst/>
                <a:uFillTx/>
              </a:rPr>
              <a:t>NumPy</a:t>
            </a: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Numerical operations</a:t>
            </a:r>
            <a:endParaRPr lang="en-US" sz="1800" b="0" u="none" strike="noStrike" dirty="0">
              <a:solidFill>
                <a:schemeClr val="tx1">
                  <a:lumMod val="65000"/>
                  <a:lumOff val="35000"/>
                </a:schemeClr>
              </a:solidFill>
              <a:effectLst/>
              <a:uFillTx/>
            </a:endParaRPr>
          </a:p>
        </p:txBody>
      </p:sp>
      <p:sp>
        <p:nvSpPr>
          <p:cNvPr id="13" name="Rounded Rectangle 27">
            <a:extLst>
              <a:ext uri="{FF2B5EF4-FFF2-40B4-BE49-F238E27FC236}">
                <a16:creationId xmlns:a16="http://schemas.microsoft.com/office/drawing/2014/main" id="{7272D393-A19E-AD47-B350-F3BA2E3366BB}"/>
              </a:ext>
            </a:extLst>
          </p:cNvPr>
          <p:cNvSpPr/>
          <p:nvPr/>
        </p:nvSpPr>
        <p:spPr>
          <a:xfrm>
            <a:off x="5166360" y="3452306"/>
            <a:ext cx="3885840" cy="1326346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cap="rnd">
            <a:solidFill>
              <a:srgbClr val="2E7D32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sz="1800" b="1" u="none" strike="noStrike" dirty="0">
                <a:effectLst/>
                <a:uFillTx/>
              </a:rPr>
              <a:t>Matplotlib</a:t>
            </a: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Charts and visualization</a:t>
            </a:r>
            <a:endParaRPr lang="en-US" sz="1800" b="0" u="none" strike="noStrike" dirty="0">
              <a:solidFill>
                <a:schemeClr val="tx1">
                  <a:lumMod val="65000"/>
                  <a:lumOff val="35000"/>
                </a:schemeClr>
              </a:solidFill>
              <a:effectLst/>
              <a:uFillTx/>
            </a:endParaRPr>
          </a:p>
        </p:txBody>
      </p:sp>
      <p:sp>
        <p:nvSpPr>
          <p:cNvPr id="15" name="Rounded Rectangle 30">
            <a:extLst>
              <a:ext uri="{FF2B5EF4-FFF2-40B4-BE49-F238E27FC236}">
                <a16:creationId xmlns:a16="http://schemas.microsoft.com/office/drawing/2014/main" id="{EB8B7C7F-4F67-C1FD-7A6C-6A486C455C61}"/>
              </a:ext>
            </a:extLst>
          </p:cNvPr>
          <p:cNvSpPr/>
          <p:nvPr/>
        </p:nvSpPr>
        <p:spPr>
          <a:xfrm>
            <a:off x="662474" y="5084114"/>
            <a:ext cx="3885840" cy="1326347"/>
          </a:xfrm>
          <a:prstGeom prst="roundRect">
            <a:avLst>
              <a:gd name="adj" fmla="val 16667"/>
            </a:avLst>
          </a:prstGeom>
          <a:solidFill>
            <a:srgbClr val="E2F2F9"/>
          </a:solidFill>
          <a:ln cap="rnd">
            <a:solidFill>
              <a:srgbClr val="2B87B8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sz="1800" b="1" u="none" strike="noStrike" dirty="0">
                <a:effectLst/>
                <a:uFillTx/>
              </a:rPr>
              <a:t>Seaborn</a:t>
            </a: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Statistical plots and heatmaps</a:t>
            </a:r>
            <a:endParaRPr lang="en-US" sz="1800" b="0" u="none" strike="noStrike" dirty="0">
              <a:solidFill>
                <a:schemeClr val="tx1">
                  <a:lumMod val="65000"/>
                  <a:lumOff val="35000"/>
                </a:schemeClr>
              </a:solidFill>
              <a:effectLst/>
              <a:uFillTx/>
            </a:endParaRPr>
          </a:p>
        </p:txBody>
      </p:sp>
      <p:sp>
        <p:nvSpPr>
          <p:cNvPr id="17" name="Rounded Rectangle 33">
            <a:extLst>
              <a:ext uri="{FF2B5EF4-FFF2-40B4-BE49-F238E27FC236}">
                <a16:creationId xmlns:a16="http://schemas.microsoft.com/office/drawing/2014/main" id="{50B8D06C-2AF3-8E30-8C07-70238937A4AC}"/>
              </a:ext>
            </a:extLst>
          </p:cNvPr>
          <p:cNvSpPr/>
          <p:nvPr/>
        </p:nvSpPr>
        <p:spPr>
          <a:xfrm>
            <a:off x="5166360" y="5084114"/>
            <a:ext cx="3885840" cy="1326346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cap="rnd">
            <a:solidFill>
              <a:srgbClr val="2E7D32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b="1" dirty="0"/>
              <a:t>Kaggle</a:t>
            </a: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sz="1800" b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</a:rPr>
              <a:t>Notebook execution and output environment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E9EF6A-683D-0CE0-D63B-BF11336BF4EA}"/>
              </a:ext>
            </a:extLst>
          </p:cNvPr>
          <p:cNvSpPr txBox="1"/>
          <p:nvPr/>
        </p:nvSpPr>
        <p:spPr>
          <a:xfrm>
            <a:off x="662474" y="1072465"/>
            <a:ext cx="91020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notebook is designed to run end-to-end in Kaggle with commonly available Python analytics libraries.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5957" y="295243"/>
            <a:ext cx="8663986" cy="666078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chemeClr val="tx1"/>
                </a:solidFill>
              </a:rPr>
              <a:t>RESULTS -</a:t>
            </a:r>
            <a:r>
              <a:rPr lang="en-US" sz="2800" b="1" dirty="0">
                <a:solidFill>
                  <a:srgbClr val="202A30"/>
                </a:solidFill>
              </a:rPr>
              <a:t> DATASET AND DATA CLEANING</a:t>
            </a:r>
            <a:endParaRPr lang="en-IN" sz="2800" dirty="0"/>
          </a:p>
        </p:txBody>
      </p:sp>
      <p:sp>
        <p:nvSpPr>
          <p:cNvPr id="3" name="Rounded Rectangle 31">
            <a:extLst>
              <a:ext uri="{FF2B5EF4-FFF2-40B4-BE49-F238E27FC236}">
                <a16:creationId xmlns:a16="http://schemas.microsoft.com/office/drawing/2014/main" id="{FBA87348-4B04-0C68-4620-349B68E14933}"/>
              </a:ext>
            </a:extLst>
          </p:cNvPr>
          <p:cNvSpPr/>
          <p:nvPr/>
        </p:nvSpPr>
        <p:spPr>
          <a:xfrm>
            <a:off x="777240" y="1029481"/>
            <a:ext cx="1828440" cy="1142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cap="rnd">
            <a:solidFill>
              <a:srgbClr val="2E7D32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sz="1800" b="0" u="none" strike="noStrike" dirty="0">
                <a:solidFill>
                  <a:schemeClr val="accent6">
                    <a:lumMod val="75000"/>
                  </a:schemeClr>
                </a:solidFill>
                <a:effectLst/>
                <a:uFillTx/>
              </a:rPr>
              <a:t>RECORDS</a:t>
            </a: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4000</a:t>
            </a:r>
            <a:endParaRPr lang="en-US" sz="1800" b="0" u="none" strike="noStrike" dirty="0">
              <a:solidFill>
                <a:schemeClr val="accent6">
                  <a:lumMod val="75000"/>
                </a:schemeClr>
              </a:solidFill>
              <a:effectLst/>
              <a:uFillTx/>
            </a:endParaRPr>
          </a:p>
        </p:txBody>
      </p:sp>
      <p:sp>
        <p:nvSpPr>
          <p:cNvPr id="9" name="Rounded Rectangle 34">
            <a:extLst>
              <a:ext uri="{FF2B5EF4-FFF2-40B4-BE49-F238E27FC236}">
                <a16:creationId xmlns:a16="http://schemas.microsoft.com/office/drawing/2014/main" id="{C05AF052-FAEA-6955-B9EC-D11D287AF7BE}"/>
              </a:ext>
            </a:extLst>
          </p:cNvPr>
          <p:cNvSpPr/>
          <p:nvPr/>
        </p:nvSpPr>
        <p:spPr>
          <a:xfrm>
            <a:off x="2743200" y="1029481"/>
            <a:ext cx="1828440" cy="1142640"/>
          </a:xfrm>
          <a:prstGeom prst="roundRect">
            <a:avLst>
              <a:gd name="adj" fmla="val 16667"/>
            </a:avLst>
          </a:prstGeom>
          <a:solidFill>
            <a:srgbClr val="E2F2F9"/>
          </a:solidFill>
          <a:ln cap="rnd">
            <a:solidFill>
              <a:srgbClr val="2B87B8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sz="1800" b="0" u="none" strike="noStrike" dirty="0">
                <a:solidFill>
                  <a:schemeClr val="accent2">
                    <a:lumMod val="75000"/>
                  </a:schemeClr>
                </a:solidFill>
                <a:effectLst/>
                <a:uFillTx/>
              </a:rPr>
              <a:t>COLUMNS</a:t>
            </a: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28</a:t>
            </a:r>
            <a:endParaRPr lang="en-US" sz="1800" b="0" u="none" strike="noStrike" dirty="0">
              <a:solidFill>
                <a:schemeClr val="accent2">
                  <a:lumMod val="75000"/>
                </a:schemeClr>
              </a:solidFill>
              <a:effectLst/>
              <a:uFillTx/>
            </a:endParaRPr>
          </a:p>
        </p:txBody>
      </p:sp>
      <p:sp>
        <p:nvSpPr>
          <p:cNvPr id="12" name="Rounded Rectangle 37">
            <a:extLst>
              <a:ext uri="{FF2B5EF4-FFF2-40B4-BE49-F238E27FC236}">
                <a16:creationId xmlns:a16="http://schemas.microsoft.com/office/drawing/2014/main" id="{029CA55B-6D6D-75F9-55C1-BD35771F2698}"/>
              </a:ext>
            </a:extLst>
          </p:cNvPr>
          <p:cNvSpPr/>
          <p:nvPr/>
        </p:nvSpPr>
        <p:spPr>
          <a:xfrm>
            <a:off x="4709160" y="1029481"/>
            <a:ext cx="1828440" cy="114264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cap="rnd">
            <a:solidFill>
              <a:srgbClr val="F9A825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sz="1800" b="0" u="none" strike="noStrike" dirty="0">
                <a:solidFill>
                  <a:srgbClr val="FFC000"/>
                </a:solidFill>
                <a:effectLst/>
                <a:uFillTx/>
              </a:rPr>
              <a:t>CROPS</a:t>
            </a: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dirty="0">
                <a:solidFill>
                  <a:srgbClr val="FFC000"/>
                </a:solidFill>
              </a:rPr>
              <a:t>8</a:t>
            </a:r>
            <a:endParaRPr lang="en-US" sz="1800" b="0" u="none" strike="noStrike" dirty="0">
              <a:solidFill>
                <a:srgbClr val="FFC000"/>
              </a:solidFill>
              <a:effectLst/>
              <a:uFillTx/>
            </a:endParaRPr>
          </a:p>
        </p:txBody>
      </p:sp>
      <p:sp>
        <p:nvSpPr>
          <p:cNvPr id="14" name="Rounded Rectangle 40">
            <a:extLst>
              <a:ext uri="{FF2B5EF4-FFF2-40B4-BE49-F238E27FC236}">
                <a16:creationId xmlns:a16="http://schemas.microsoft.com/office/drawing/2014/main" id="{361A50F1-E5FC-B95E-4C0C-21C22CB23ED5}"/>
              </a:ext>
            </a:extLst>
          </p:cNvPr>
          <p:cNvSpPr/>
          <p:nvPr/>
        </p:nvSpPr>
        <p:spPr>
          <a:xfrm>
            <a:off x="6675120" y="1029481"/>
            <a:ext cx="1828440" cy="1142640"/>
          </a:xfrm>
          <a:prstGeom prst="roundRect">
            <a:avLst>
              <a:gd name="adj" fmla="val 16667"/>
            </a:avLst>
          </a:prstGeom>
          <a:solidFill>
            <a:srgbClr val="FFEBEE"/>
          </a:solidFill>
          <a:ln cap="rnd">
            <a:solidFill>
              <a:srgbClr val="C62828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sz="1800" b="0" u="none" strike="noStrike" dirty="0">
                <a:solidFill>
                  <a:srgbClr val="FF0000"/>
                </a:solidFill>
                <a:effectLst/>
                <a:uFillTx/>
              </a:rPr>
              <a:t>IRRIGATION</a:t>
            </a: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lang="en-US" dirty="0">
                <a:solidFill>
                  <a:srgbClr val="FF0000"/>
                </a:solidFill>
              </a:rPr>
              <a:t>4</a:t>
            </a:r>
            <a:endParaRPr lang="en-US" sz="1800" b="0" u="none" strike="noStrike" dirty="0">
              <a:solidFill>
                <a:srgbClr val="FF0000"/>
              </a:solidFill>
              <a:effectLst/>
              <a:uFillTx/>
            </a:endParaRPr>
          </a:p>
        </p:txBody>
      </p:sp>
      <p:sp>
        <p:nvSpPr>
          <p:cNvPr id="16" name="Rounded Rectangle 43">
            <a:extLst>
              <a:ext uri="{FF2B5EF4-FFF2-40B4-BE49-F238E27FC236}">
                <a16:creationId xmlns:a16="http://schemas.microsoft.com/office/drawing/2014/main" id="{AEC65C91-E8FC-BCAF-EA32-B8E63A08F957}"/>
              </a:ext>
            </a:extLst>
          </p:cNvPr>
          <p:cNvSpPr/>
          <p:nvPr/>
        </p:nvSpPr>
        <p:spPr>
          <a:xfrm>
            <a:off x="777240" y="2463122"/>
            <a:ext cx="2301862" cy="383760"/>
          </a:xfrm>
          <a:prstGeom prst="roundRect">
            <a:avLst>
              <a:gd name="adj" fmla="val 16667"/>
            </a:avLst>
          </a:prstGeom>
          <a:solidFill>
            <a:srgbClr val="E2F2F9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Trebuchet MS"/>
              </a:rPr>
              <a:t>CLEANING STEPS</a:t>
            </a:r>
          </a:p>
        </p:txBody>
      </p:sp>
      <p:sp>
        <p:nvSpPr>
          <p:cNvPr id="18" name="Rounded Rectangle 46">
            <a:extLst>
              <a:ext uri="{FF2B5EF4-FFF2-40B4-BE49-F238E27FC236}">
                <a16:creationId xmlns:a16="http://schemas.microsoft.com/office/drawing/2014/main" id="{48C60F1A-1289-1EA9-2AF1-43E6B760EDA4}"/>
              </a:ext>
            </a:extLst>
          </p:cNvPr>
          <p:cNvSpPr/>
          <p:nvPr/>
        </p:nvSpPr>
        <p:spPr>
          <a:xfrm>
            <a:off x="6891230" y="2463122"/>
            <a:ext cx="2382105" cy="38376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Trebuchet MS"/>
              </a:rPr>
              <a:t>FEATURE GROUPS</a:t>
            </a:r>
          </a:p>
        </p:txBody>
      </p:sp>
      <p:sp>
        <p:nvSpPr>
          <p:cNvPr id="20" name="TextBox 45">
            <a:extLst>
              <a:ext uri="{FF2B5EF4-FFF2-40B4-BE49-F238E27FC236}">
                <a16:creationId xmlns:a16="http://schemas.microsoft.com/office/drawing/2014/main" id="{115980F5-5DFF-B46C-72AE-44A4EDE94639}"/>
              </a:ext>
            </a:extLst>
          </p:cNvPr>
          <p:cNvSpPr/>
          <p:nvPr/>
        </p:nvSpPr>
        <p:spPr>
          <a:xfrm>
            <a:off x="777239" y="3026021"/>
            <a:ext cx="5760361" cy="27223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 algn="just" defTabSz="457200">
              <a:lnSpc>
                <a:spcPct val="10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solidFill>
                  <a:srgbClr val="202A30"/>
                </a:solidFill>
                <a:effectLst/>
                <a:uFillTx/>
              </a:rPr>
              <a:t>Missing values found in </a:t>
            </a:r>
            <a:r>
              <a:rPr lang="en-US" b="0" u="none" strike="noStrike" dirty="0" err="1">
                <a:solidFill>
                  <a:srgbClr val="202A30"/>
                </a:solidFill>
                <a:effectLst/>
                <a:uFillTx/>
              </a:rPr>
              <a:t>Rainfall_mm</a:t>
            </a:r>
            <a:r>
              <a:rPr lang="en-US" b="0" u="none" strike="noStrike" dirty="0">
                <a:solidFill>
                  <a:srgbClr val="202A30"/>
                </a:solidFill>
                <a:effectLst/>
                <a:uFillTx/>
              </a:rPr>
              <a:t>, </a:t>
            </a:r>
            <a:r>
              <a:rPr lang="en-US" b="0" u="none" strike="noStrike" dirty="0" err="1">
                <a:solidFill>
                  <a:srgbClr val="202A30"/>
                </a:solidFill>
                <a:effectLst/>
                <a:uFillTx/>
              </a:rPr>
              <a:t>Soil</a:t>
            </a:r>
            <a:r>
              <a:rPr lang="en-US" dirty="0" err="1">
                <a:solidFill>
                  <a:srgbClr val="202A30"/>
                </a:solidFill>
              </a:rPr>
              <a:t>_</a:t>
            </a:r>
            <a:r>
              <a:rPr lang="en-US" b="0" u="none" strike="noStrike" dirty="0" err="1">
                <a:solidFill>
                  <a:srgbClr val="202A30"/>
                </a:solidFill>
                <a:effectLst/>
                <a:uFillTx/>
              </a:rPr>
              <a:t>Moisture_pct</a:t>
            </a:r>
            <a:r>
              <a:rPr lang="en-US" b="0" u="none" strike="noStrike" dirty="0">
                <a:solidFill>
                  <a:srgbClr val="202A30"/>
                </a:solidFill>
                <a:effectLst/>
                <a:uFillTx/>
              </a:rPr>
              <a:t> and </a:t>
            </a:r>
            <a:r>
              <a:rPr lang="en-US" b="0" u="none" strike="noStrike" dirty="0" err="1">
                <a:solidFill>
                  <a:srgbClr val="202A30"/>
                </a:solidFill>
                <a:effectLst/>
                <a:uFillTx/>
              </a:rPr>
              <a:t>Yield</a:t>
            </a:r>
            <a:r>
              <a:rPr lang="en-US" dirty="0" err="1">
                <a:solidFill>
                  <a:srgbClr val="202A30"/>
                </a:solidFill>
              </a:rPr>
              <a:t>_</a:t>
            </a:r>
            <a:r>
              <a:rPr lang="en-US" b="0" u="none" strike="noStrike" dirty="0" err="1">
                <a:solidFill>
                  <a:srgbClr val="202A30"/>
                </a:solidFill>
                <a:effectLst/>
                <a:uFillTx/>
              </a:rPr>
              <a:t>Tonnes_Ha</a:t>
            </a:r>
            <a:r>
              <a:rPr lang="en-US" b="0" u="none" strike="noStrike" dirty="0">
                <a:solidFill>
                  <a:srgbClr val="202A30"/>
                </a:solidFill>
                <a:effectLst/>
                <a:uFillTx/>
              </a:rPr>
              <a:t> (~1% each).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algn="just" defTabSz="457200">
              <a:lnSpc>
                <a:spcPct val="10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solidFill>
                  <a:srgbClr val="202A30"/>
                </a:solidFill>
                <a:effectLst/>
                <a:uFillTx/>
              </a:rPr>
              <a:t>Missing values were imputed using the median within each Season.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algn="just" defTabSz="457200">
              <a:lnSpc>
                <a:spcPct val="10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solidFill>
                  <a:srgbClr val="202A30"/>
                </a:solidFill>
                <a:effectLst/>
                <a:uFillTx/>
              </a:rPr>
              <a:t>A global median was used only as a safety net.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algn="just" defTabSz="457200">
              <a:lnSpc>
                <a:spcPct val="10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solidFill>
                  <a:srgbClr val="202A30"/>
                </a:solidFill>
                <a:effectLst/>
                <a:uFillTx/>
              </a:rPr>
              <a:t>Duplicate records were checked; the notebook reports the dataset as clean on this front.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2" name="TextBox 48">
            <a:extLst>
              <a:ext uri="{FF2B5EF4-FFF2-40B4-BE49-F238E27FC236}">
                <a16:creationId xmlns:a16="http://schemas.microsoft.com/office/drawing/2014/main" id="{438F6CFD-C8BE-F3C5-555E-F783FF836FCF}"/>
              </a:ext>
            </a:extLst>
          </p:cNvPr>
          <p:cNvSpPr/>
          <p:nvPr/>
        </p:nvSpPr>
        <p:spPr>
          <a:xfrm>
            <a:off x="6825916" y="3026021"/>
            <a:ext cx="3355288" cy="2399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 defTabSz="457200">
              <a:lnSpc>
                <a:spcPct val="10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solidFill>
                  <a:srgbClr val="202A30"/>
                </a:solidFill>
                <a:effectLst/>
                <a:uFillTx/>
              </a:rPr>
              <a:t>Farming practices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457200">
              <a:lnSpc>
                <a:spcPct val="10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solidFill>
                  <a:srgbClr val="202A30"/>
                </a:solidFill>
                <a:effectLst/>
                <a:uFillTx/>
              </a:rPr>
              <a:t>Environmental conditions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457200">
              <a:lnSpc>
                <a:spcPct val="10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solidFill>
                  <a:srgbClr val="202A30"/>
                </a:solidFill>
                <a:effectLst/>
                <a:uFillTx/>
              </a:rPr>
              <a:t>Resource usage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457200">
              <a:lnSpc>
                <a:spcPct val="10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solidFill>
                  <a:srgbClr val="202A30"/>
                </a:solidFill>
                <a:effectLst/>
                <a:uFillTx/>
              </a:rPr>
              <a:t>Production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457200">
              <a:lnSpc>
                <a:spcPct val="10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solidFill>
                  <a:srgbClr val="202A30"/>
                </a:solidFill>
                <a:effectLst/>
                <a:uFillTx/>
              </a:rPr>
              <a:t>Economics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E9E15-BDE9-EEA3-3C20-2954A9824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56CCC4-16AC-2261-4F81-A61ABD7B0E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9CAD8CF-B19F-2E95-699E-A05FFF6AF2E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5957" y="342330"/>
            <a:ext cx="6424639" cy="777344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chemeClr val="tx1"/>
                </a:solidFill>
              </a:rPr>
              <a:t>RESULTS – UNIVARIATE ANALYSIS 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D9861B8-B35E-C43F-E791-44FBD841BC3D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DBB79E-D3D7-B642-D78C-DE349D18E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24" y="1119675"/>
            <a:ext cx="9180374" cy="31817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D66EB8-3989-73BC-EEA9-977CDC9813C0}"/>
              </a:ext>
            </a:extLst>
          </p:cNvPr>
          <p:cNvSpPr txBox="1"/>
          <p:nvPr/>
        </p:nvSpPr>
        <p:spPr>
          <a:xfrm>
            <a:off x="675956" y="4617107"/>
            <a:ext cx="88776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dirty="0"/>
              <a:t>Kharif has the highest number of farm records (1,779), followed by Rabi (1,627), while Zaid has the fewest (594).</a:t>
            </a:r>
          </a:p>
          <a:p>
            <a:pPr marL="285750" lvl="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dirty="0"/>
              <a:t>Rice is the most represented crop, and Flood irrigation is the most commonly used method in the dataset.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3810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DE4DC-707E-1739-4D2E-CD5AD2EB5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AEFCCD-A2FA-4E89-2749-C7C9915047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003FFC6-E4EF-A51B-0F95-589AAC24E4E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5956" y="342330"/>
            <a:ext cx="5603545" cy="541077"/>
          </a:xfrm>
        </p:spPr>
        <p:txBody>
          <a:bodyPr>
            <a:normAutofit fontScale="90000"/>
          </a:bodyPr>
          <a:lstStyle/>
          <a:p>
            <a:r>
              <a:rPr lang="en-GB" sz="2800" b="1" dirty="0">
                <a:solidFill>
                  <a:schemeClr val="tx1"/>
                </a:solidFill>
              </a:rPr>
              <a:t>RESULTS – </a:t>
            </a:r>
            <a:r>
              <a:rPr lang="en-IN" sz="2800" b="1" dirty="0">
                <a:solidFill>
                  <a:schemeClr val="tx1"/>
                </a:solidFill>
              </a:rPr>
              <a:t>MULTI</a:t>
            </a:r>
            <a:r>
              <a:rPr lang="en-GB" sz="2800" b="1" dirty="0">
                <a:solidFill>
                  <a:schemeClr val="tx1"/>
                </a:solidFill>
              </a:rPr>
              <a:t>VARIATE</a:t>
            </a:r>
            <a:r>
              <a:rPr lang="en-IN" sz="2800" b="1" dirty="0">
                <a:solidFill>
                  <a:schemeClr val="tx1"/>
                </a:solidFill>
              </a:rPr>
              <a:t> ANALYSIS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F956640-4241-4CDA-4038-88CD372AE5EC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9C0AEC-F937-E405-62DA-0002BCC9F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640" y="1017038"/>
            <a:ext cx="7912359" cy="545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85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C01C1-9EF1-833A-CCC7-608058A4E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00BF7C-051D-436E-B5FC-EE761B57F0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D89E0D2-34B5-7362-862C-1544C81BA18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5957" y="342330"/>
            <a:ext cx="8869259" cy="478764"/>
          </a:xfrm>
        </p:spPr>
        <p:txBody>
          <a:bodyPr>
            <a:normAutofit fontScale="90000"/>
          </a:bodyPr>
          <a:lstStyle/>
          <a:p>
            <a:r>
              <a:rPr lang="en-GB" sz="3100" b="1" dirty="0">
                <a:solidFill>
                  <a:schemeClr val="tx1"/>
                </a:solidFill>
              </a:rPr>
              <a:t>RESULTS - </a:t>
            </a:r>
            <a:r>
              <a:rPr lang="en-IN" sz="3100" b="1" dirty="0">
                <a:solidFill>
                  <a:schemeClr val="tx1"/>
                </a:solidFill>
              </a:rPr>
              <a:t>MULTI</a:t>
            </a:r>
            <a:r>
              <a:rPr lang="en-GB" sz="3200" b="1" dirty="0">
                <a:solidFill>
                  <a:schemeClr val="tx1"/>
                </a:solidFill>
              </a:rPr>
              <a:t>VARIATE</a:t>
            </a:r>
            <a:r>
              <a:rPr lang="en-IN" sz="3100" b="1" dirty="0">
                <a:solidFill>
                  <a:schemeClr val="tx1"/>
                </a:solidFill>
              </a:rPr>
              <a:t> ANALYSIS WITH PAIRPLOT</a:t>
            </a:r>
            <a:br>
              <a:rPr lang="en-IN" dirty="0"/>
            </a:b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9B4AC5A-C7B8-40E0-9F92-14C5FDE0008E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15AABC-E88C-1F68-37B4-7F6E3B390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519" y="890279"/>
            <a:ext cx="7464490" cy="545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07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B4E45-9F19-77E6-59DE-FA7E17C98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FF1987-A81B-73BB-1349-423A184276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18BBA87-E849-3A66-66D9-EAEABCFD180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5957" y="342330"/>
            <a:ext cx="6247357" cy="595431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chemeClr val="tx1"/>
                </a:solidFill>
              </a:rPr>
              <a:t>RESULTS – CORRELATION ANALYSIS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70CF52E-C348-839A-C9DA-E9599D5FE6E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653E2E-D325-9D20-3F27-52A52087F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14" y="1045029"/>
            <a:ext cx="8226511" cy="570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778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63B96-477D-536D-9861-F7BA8B6F2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37A79B-ED70-41CB-26AD-18D2668C77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CA71F5C-F6B7-7575-A342-C1A5D86F7C8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5957" y="342330"/>
            <a:ext cx="6002429" cy="540963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chemeClr val="tx1"/>
                </a:solidFill>
              </a:rPr>
              <a:t>RESULTS – CROP PROFIT AND LOSS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96B6E7C-3C41-2C72-1044-773591F5001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5760CF-369A-E20D-02DC-C37A33139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952206"/>
            <a:ext cx="8978665" cy="42169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76F9D8-FCC9-C1D3-BD1D-E7004082DD82}"/>
              </a:ext>
            </a:extLst>
          </p:cNvPr>
          <p:cNvSpPr txBox="1"/>
          <p:nvPr/>
        </p:nvSpPr>
        <p:spPr>
          <a:xfrm>
            <a:off x="675957" y="5259463"/>
            <a:ext cx="8978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Sugarcane and Chilli are most profitable, while Wheat, Rice and Maize show negative average profits.</a:t>
            </a:r>
          </a:p>
        </p:txBody>
      </p:sp>
    </p:spTree>
    <p:extLst>
      <p:ext uri="{BB962C8B-B14F-4D97-AF65-F5344CB8AC3E}">
        <p14:creationId xmlns:p14="http://schemas.microsoft.com/office/powerpoint/2010/main" val="3165958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EDFDD-00BB-F88E-6924-3B609F57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89BE59-20C0-7A1A-45C8-26617EFC9D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BBD0452-3BD6-9340-FFD9-9BB25315952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5957" y="342330"/>
            <a:ext cx="8647657" cy="777344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chemeClr val="tx1"/>
                </a:solidFill>
              </a:rPr>
              <a:t>RESULTS </a:t>
            </a:r>
            <a:r>
              <a:rPr lang="en-US" sz="2800" b="1" dirty="0">
                <a:solidFill>
                  <a:srgbClr val="202A30"/>
                </a:solidFill>
              </a:rPr>
              <a:t>— SELF DESIGNED ANALYSES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31">
            <a:extLst>
              <a:ext uri="{FF2B5EF4-FFF2-40B4-BE49-F238E27FC236}">
                <a16:creationId xmlns:a16="http://schemas.microsoft.com/office/drawing/2014/main" id="{6FFDECEC-40E8-A01A-6C65-2A4442600E4F}"/>
              </a:ext>
            </a:extLst>
          </p:cNvPr>
          <p:cNvSpPr/>
          <p:nvPr/>
        </p:nvSpPr>
        <p:spPr>
          <a:xfrm>
            <a:off x="670779" y="1065194"/>
            <a:ext cx="3206300" cy="5111671"/>
          </a:xfrm>
          <a:prstGeom prst="roundRect">
            <a:avLst>
              <a:gd name="adj" fmla="val 16667"/>
            </a:avLst>
          </a:prstGeom>
          <a:solidFill>
            <a:srgbClr val="E2F2F9"/>
          </a:solidFill>
          <a:ln cap="rnd">
            <a:solidFill>
              <a:srgbClr val="2B87B8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spcAft>
                <a:spcPts val="1800"/>
              </a:spcAft>
            </a:pPr>
            <a:r>
              <a:rPr lang="en-US" dirty="0">
                <a:solidFill>
                  <a:srgbClr val="263238"/>
                </a:solidFill>
              </a:rPr>
              <a:t>IRRIGATION EFFICIENCY</a:t>
            </a:r>
          </a:p>
          <a:p>
            <a:pPr algn="just">
              <a:spcAft>
                <a:spcPts val="1800"/>
              </a:spcAft>
            </a:pPr>
            <a:r>
              <a:rPr lang="en-US" dirty="0">
                <a:solidFill>
                  <a:srgbClr val="263238"/>
                </a:solidFill>
              </a:rPr>
              <a:t>Does irrigation method affect water efficiency and profitability?</a:t>
            </a:r>
            <a:endParaRPr lang="en-US" dirty="0">
              <a:solidFill>
                <a:srgbClr val="00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263238"/>
                </a:solidFill>
              </a:rPr>
              <a:t>Finding: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63238"/>
                </a:solidFill>
              </a:rPr>
              <a:t>Rainfed and Drip show the highest water efficiency.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63238"/>
                </a:solidFill>
              </a:rPr>
              <a:t>Flood is the least efficient and among the least profitable.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63238"/>
                </a:solidFill>
              </a:rPr>
              <a:t>Drip has the highest average profit among irrigation methods</a:t>
            </a:r>
            <a:endParaRPr lang="en-US" b="0" u="none" strike="noStrike" dirty="0">
              <a:solidFill>
                <a:schemeClr val="lt1"/>
              </a:solidFill>
              <a:effectLst/>
              <a:uFillTx/>
            </a:endParaRPr>
          </a:p>
        </p:txBody>
      </p:sp>
      <p:sp>
        <p:nvSpPr>
          <p:cNvPr id="9" name="Rounded Rectangle 34">
            <a:extLst>
              <a:ext uri="{FF2B5EF4-FFF2-40B4-BE49-F238E27FC236}">
                <a16:creationId xmlns:a16="http://schemas.microsoft.com/office/drawing/2014/main" id="{CE1CB3A5-7314-0C1B-2988-73A41812BD12}"/>
              </a:ext>
            </a:extLst>
          </p:cNvPr>
          <p:cNvSpPr/>
          <p:nvPr/>
        </p:nvSpPr>
        <p:spPr>
          <a:xfrm>
            <a:off x="4148968" y="1065194"/>
            <a:ext cx="3206300" cy="5111671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cap="rnd">
            <a:solidFill>
              <a:srgbClr val="2E7D32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spcAft>
                <a:spcPts val="1800"/>
              </a:spcAft>
            </a:pPr>
            <a:r>
              <a:rPr lang="en-US" dirty="0">
                <a:solidFill>
                  <a:srgbClr val="263238"/>
                </a:solidFill>
              </a:rPr>
              <a:t>STATE CONSISTENCY</a:t>
            </a:r>
          </a:p>
          <a:p>
            <a:pPr algn="just">
              <a:spcAft>
                <a:spcPts val="1800"/>
              </a:spcAft>
            </a:pPr>
            <a:r>
              <a:rPr lang="en-US" dirty="0">
                <a:solidFill>
                  <a:srgbClr val="263238"/>
                </a:solidFill>
              </a:rPr>
              <a:t>Which states are most consistent in profitability?</a:t>
            </a:r>
            <a:endParaRPr lang="en-US" dirty="0">
              <a:solidFill>
                <a:srgbClr val="00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263238"/>
                </a:solidFill>
              </a:rPr>
              <a:t>Finding: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63238"/>
                </a:solidFill>
              </a:rPr>
              <a:t>Punjab and Maharashtra lead on average profit.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63238"/>
                </a:solidFill>
              </a:rPr>
              <a:t>Andhra Pradesh has the lowest average profit and highest coefficient of variation.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63238"/>
                </a:solidFill>
              </a:rPr>
              <a:t>This indicates greater profitability volatility in Andhra Pradesh.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Rounded Rectangle 37">
            <a:extLst>
              <a:ext uri="{FF2B5EF4-FFF2-40B4-BE49-F238E27FC236}">
                <a16:creationId xmlns:a16="http://schemas.microsoft.com/office/drawing/2014/main" id="{C92A7CC2-AA6D-74A9-A694-401376A1D1B2}"/>
              </a:ext>
            </a:extLst>
          </p:cNvPr>
          <p:cNvSpPr/>
          <p:nvPr/>
        </p:nvSpPr>
        <p:spPr>
          <a:xfrm>
            <a:off x="7627157" y="1065194"/>
            <a:ext cx="3206300" cy="511167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cap="rnd">
            <a:solidFill>
              <a:srgbClr val="F9A825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spcAft>
                <a:spcPts val="1800"/>
              </a:spcAft>
            </a:pPr>
            <a:r>
              <a:rPr lang="en-US" dirty="0">
                <a:solidFill>
                  <a:srgbClr val="263238"/>
                </a:solidFill>
              </a:rPr>
              <a:t>CROP PROFITABILITY</a:t>
            </a:r>
          </a:p>
          <a:p>
            <a:pPr algn="just">
              <a:spcAft>
                <a:spcPts val="1800"/>
              </a:spcAft>
            </a:pPr>
            <a:r>
              <a:rPr lang="en-US" dirty="0">
                <a:solidFill>
                  <a:srgbClr val="263238"/>
                </a:solidFill>
              </a:rPr>
              <a:t>Which crops drive profits versus losses?</a:t>
            </a:r>
            <a:endParaRPr lang="en-US" dirty="0">
              <a:solidFill>
                <a:srgbClr val="00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263238"/>
                </a:solidFill>
              </a:rPr>
              <a:t>Finding: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63238"/>
                </a:solidFill>
              </a:rPr>
              <a:t>Sugarcane and Chilli are strongly profitable.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63238"/>
                </a:solidFill>
              </a:rPr>
              <a:t>Six other crops average at or below break-even.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63238"/>
                </a:solidFill>
              </a:rPr>
              <a:t>About 49% of farms operate at a loss overall.</a:t>
            </a:r>
            <a:endParaRPr lang="en-US" dirty="0">
              <a:solidFill>
                <a:srgbClr val="000000"/>
              </a:solidFill>
            </a:endParaRPr>
          </a:p>
          <a:p>
            <a:pPr algn="ctr"/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028745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5957" y="303339"/>
            <a:ext cx="6326155" cy="62848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202A30"/>
                </a:solidFill>
              </a:rPr>
              <a:t>FUTURE SCOPE AND LIMITATIONS</a:t>
            </a:r>
            <a:br>
              <a:rPr lang="en-US" sz="2800" dirty="0">
                <a:solidFill>
                  <a:srgbClr val="000000"/>
                </a:solidFill>
              </a:rPr>
            </a:br>
            <a:endParaRPr lang="en-IN" sz="2800" dirty="0"/>
          </a:p>
        </p:txBody>
      </p:sp>
      <p:sp>
        <p:nvSpPr>
          <p:cNvPr id="6" name="Rounded Rectangle 24">
            <a:extLst>
              <a:ext uri="{FF2B5EF4-FFF2-40B4-BE49-F238E27FC236}">
                <a16:creationId xmlns:a16="http://schemas.microsoft.com/office/drawing/2014/main" id="{AC7ECD21-0ECA-7F34-BFCB-4392752801EF}"/>
              </a:ext>
            </a:extLst>
          </p:cNvPr>
          <p:cNvSpPr/>
          <p:nvPr/>
        </p:nvSpPr>
        <p:spPr>
          <a:xfrm>
            <a:off x="675957" y="1119673"/>
            <a:ext cx="1880631" cy="410547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b="1" dirty="0">
                <a:solidFill>
                  <a:srgbClr val="2E7D32"/>
                </a:solidFill>
              </a:rPr>
              <a:t>FUTURE SCOPE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Rounded Rectangle 27">
            <a:extLst>
              <a:ext uri="{FF2B5EF4-FFF2-40B4-BE49-F238E27FC236}">
                <a16:creationId xmlns:a16="http://schemas.microsoft.com/office/drawing/2014/main" id="{3F68D879-5289-1D72-983E-CB14D6C23940}"/>
              </a:ext>
            </a:extLst>
          </p:cNvPr>
          <p:cNvSpPr/>
          <p:nvPr/>
        </p:nvSpPr>
        <p:spPr>
          <a:xfrm>
            <a:off x="6096000" y="1119673"/>
            <a:ext cx="1545771" cy="410547"/>
          </a:xfrm>
          <a:prstGeom prst="roundRect">
            <a:avLst>
              <a:gd name="adj" fmla="val 16667"/>
            </a:avLst>
          </a:prstGeom>
          <a:solidFill>
            <a:srgbClr val="FFEBEE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b="1" dirty="0">
                <a:solidFill>
                  <a:srgbClr val="C62828"/>
                </a:solidFill>
              </a:rPr>
              <a:t>LIMITATIONS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F169C7-34EA-51C9-B00C-95D9E9E752E6}"/>
              </a:ext>
            </a:extLst>
          </p:cNvPr>
          <p:cNvSpPr txBox="1"/>
          <p:nvPr/>
        </p:nvSpPr>
        <p:spPr>
          <a:xfrm>
            <a:off x="675957" y="1808162"/>
            <a:ext cx="51276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A30"/>
                </a:solidFill>
              </a:rPr>
              <a:t>Add multi-year farm records to study trends and season-to-season changes over time.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A30"/>
                </a:solidFill>
              </a:rPr>
              <a:t>Validate economic variables with external market and price data.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A30"/>
                </a:solidFill>
              </a:rPr>
              <a:t>Expand beyond 8 states, 8 crops and 4 irrigation methods.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A30"/>
                </a:solidFill>
              </a:rPr>
              <a:t>Build predictive models for yield/profit and scenario analysis.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A30"/>
                </a:solidFill>
              </a:rPr>
              <a:t>Develop an interactive dashboard for farmers and decision makers.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EEBE8-E292-0C9D-2D6F-733711DC94D4}"/>
              </a:ext>
            </a:extLst>
          </p:cNvPr>
          <p:cNvSpPr txBox="1"/>
          <p:nvPr/>
        </p:nvSpPr>
        <p:spPr>
          <a:xfrm>
            <a:off x="6096000" y="1808162"/>
            <a:ext cx="38784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A30"/>
                </a:solidFill>
              </a:rPr>
              <a:t>Cross-sectional dataset; no year-over-year farm tracking.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A30"/>
                </a:solidFill>
              </a:rPr>
              <a:t>Correlation does not establish causation.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A30"/>
                </a:solidFill>
              </a:rPr>
              <a:t>Small geographic/crop/irrigation scope limits generalization.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A30"/>
                </a:solidFill>
              </a:rPr>
              <a:t>Economic fields were used as provided; no external validation.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A30"/>
                </a:solidFill>
              </a:rPr>
              <a:t>Small (~1%) imputation introduces minor uncertainty.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2F221-BBCB-E1EA-AFF4-05B39D48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275AF8-5D38-2E26-C943-E28A1C26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8C7DC4D-BC86-0AA2-164D-831165C73DE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5958" y="303339"/>
            <a:ext cx="2692393" cy="62848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202A30"/>
                </a:solidFill>
              </a:rPr>
              <a:t>GitHub LINK</a:t>
            </a:r>
            <a:br>
              <a:rPr lang="en-US" sz="2800" dirty="0">
                <a:solidFill>
                  <a:srgbClr val="000000"/>
                </a:solidFill>
              </a:rPr>
            </a:b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9017DB-E570-8A90-35AB-BAC16039E526}"/>
              </a:ext>
            </a:extLst>
          </p:cNvPr>
          <p:cNvSpPr txBox="1"/>
          <p:nvPr/>
        </p:nvSpPr>
        <p:spPr>
          <a:xfrm>
            <a:off x="675957" y="1267573"/>
            <a:ext cx="427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Repository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D9688F-2B1F-6946-D020-12747A76FFE9}"/>
              </a:ext>
            </a:extLst>
          </p:cNvPr>
          <p:cNvSpPr/>
          <p:nvPr/>
        </p:nvSpPr>
        <p:spPr>
          <a:xfrm>
            <a:off x="675956" y="2262318"/>
            <a:ext cx="9503741" cy="10870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GitHub URL: </a:t>
            </a:r>
            <a:r>
              <a:rPr 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https://github.com/Imran-Ansari5290/Seasonal-Agriculture-Performance-Analysis.git</a:t>
            </a:r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234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5957" y="304575"/>
            <a:ext cx="8496300" cy="885825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VOIS COURSE COMPLETION CERTIFICATE</a:t>
            </a:r>
            <a:br>
              <a:rPr lang="en-IN" sz="2800" b="1" dirty="0">
                <a:solidFill>
                  <a:schemeClr val="tx1"/>
                </a:solidFill>
              </a:rPr>
            </a:br>
            <a:r>
              <a:rPr lang="en-IN" sz="2800" b="1" dirty="0">
                <a:solidFill>
                  <a:schemeClr val="tx1"/>
                </a:solidFill>
              </a:rPr>
              <a:t>COURSE NAME 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8A59C8-28FA-8A4B-0D02-F301AF6BD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324619"/>
            <a:ext cx="8328084" cy="529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21844" y="1020925"/>
            <a:ext cx="5548312" cy="700088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197987-CFFD-2FB1-4BEF-0E985866B5B3}"/>
              </a:ext>
            </a:extLst>
          </p:cNvPr>
          <p:cNvSpPr txBox="1"/>
          <p:nvPr/>
        </p:nvSpPr>
        <p:spPr>
          <a:xfrm>
            <a:off x="3394011" y="2241627"/>
            <a:ext cx="54039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202A30"/>
                </a:solidFill>
              </a:rPr>
              <a:t>Seasonal Agriculture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202A30"/>
                </a:solidFill>
              </a:rPr>
              <a:t>Performance Analysis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E8762-D329-5C70-D995-829AC89F5AA8}"/>
              </a:ext>
            </a:extLst>
          </p:cNvPr>
          <p:cNvSpPr txBox="1"/>
          <p:nvPr/>
        </p:nvSpPr>
        <p:spPr>
          <a:xfrm>
            <a:off x="4645090" y="3213775"/>
            <a:ext cx="2901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Imran Ansari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965</TotalTime>
  <Words>817</Words>
  <Application>Microsoft Office PowerPoint</Application>
  <PresentationFormat>Widescreen</PresentationFormat>
  <Paragraphs>115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 </vt:lpstr>
      <vt:lpstr>PROBLEM  STATEMENT</vt:lpstr>
      <vt:lpstr>PROJECT DESCRIPTION </vt:lpstr>
      <vt:lpstr>WHO ARE THE END USERS?</vt:lpstr>
      <vt:lpstr>TECHNOLOGY USED </vt:lpstr>
      <vt:lpstr>RESULTS - DATASET AND DATA CLEANING</vt:lpstr>
      <vt:lpstr>RESULTS – UNIVARIATE ANALYSIS </vt:lpstr>
      <vt:lpstr>RESULTS – MULTIVARIATE ANALYSIS</vt:lpstr>
      <vt:lpstr>RESULTS - MULTIVARIATE ANALYSIS WITH PAIRPLOT </vt:lpstr>
      <vt:lpstr>RESULTS – CORRELATION ANALYSIS</vt:lpstr>
      <vt:lpstr>RESULTS – CROP PROFIT AND LOSS</vt:lpstr>
      <vt:lpstr>RESULTS — SELF DESIGNED ANALYSES</vt:lpstr>
      <vt:lpstr>FUTURE SCOPE AND LIMITATIONS </vt:lpstr>
      <vt:lpstr>GitHub LINK </vt:lpstr>
      <vt:lpstr>VOIS COURSE COMPLETION CERTIFICATE COURSE NAME 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ataullah ansari</cp:lastModifiedBy>
  <cp:revision>123</cp:revision>
  <dcterms:created xsi:type="dcterms:W3CDTF">2021-07-11T13:13:15Z</dcterms:created>
  <dcterms:modified xsi:type="dcterms:W3CDTF">2026-09-10T08:31:53Z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